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4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3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0D713-3659-8646-6D62-24B8C6FE6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9A5B8-0CF9-0D70-5DE6-6E3CC08F6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85D71-9F52-7F31-66A3-77F92989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7491-F832-42E5-8E5A-01D866EB402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32481-3DE1-0BA3-1BD2-64EAEC9C3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2F9D2-CD2E-ED1F-63B9-526B4DAA3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9902-A5E0-464E-A3DB-31252D6D1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48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FB7BF-E0AF-96B5-3507-2C052A7CA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CFECA-8799-2CB4-44DB-F92BCB687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76DE6-CCA1-6EF8-EB30-32FD9DFFD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7491-F832-42E5-8E5A-01D866EB402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C7B04-84D8-EC97-A999-B10ECD403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11927-DACD-0750-19CB-B99462FF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9902-A5E0-464E-A3DB-31252D6D1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0959E-F627-47DC-8686-4B2BF9C60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C0F8A-0743-F00D-971A-7D3851B66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58D62-8AF9-2E44-AB00-4E92E5D05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7491-F832-42E5-8E5A-01D866EB402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40D21-52B0-3771-BF10-9095A7C6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508D8-6B59-109E-CFDD-9D0D6DD1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9902-A5E0-464E-A3DB-31252D6D1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33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5463-56B3-2264-8384-9E73B55B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155C7-E6B1-940F-2AC9-226D17527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4996F-3E43-9460-63E3-527AA256C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E0C27-06A1-B047-D0E6-1EFB45AF4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7491-F832-42E5-8E5A-01D866EB402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2201D-B0D8-06AE-C120-AA1CC2F7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8E63E-38A5-7DDC-48E0-44EDD9346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9902-A5E0-464E-A3DB-31252D6D1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01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FB02-5A66-5991-4B20-DF674176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F090D-94B6-1E9C-350F-5833B715B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E07B5-A698-9EFA-EE37-64F9AE9B7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7A0A1-234C-59DE-1B7B-7B63FC840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A86DD-DCEF-FAA1-5C67-1764774F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833699-AC6B-B7B8-77A7-846B0E07A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7491-F832-42E5-8E5A-01D866EB402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28D7F-A2BB-D86E-AF7D-D7BEBE7D1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0B65B-155E-0BA6-B79A-E4DD2D2A3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9902-A5E0-464E-A3DB-31252D6D1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648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84DF9-C493-9763-ACA8-3DA3EB701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A4EA1-41ED-C98B-A4FE-B27A8EEA5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7491-F832-42E5-8E5A-01D866EB402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42FDC-DB63-7C81-6EB6-EB3608329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D93D4-113D-5C7C-E569-AAC987018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9902-A5E0-464E-A3DB-31252D6D1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90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EEB797-1B43-E0D9-8080-B2DD4BEFB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7491-F832-42E5-8E5A-01D866EB402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FCBFD-57D6-F3EE-F69B-27513172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6FE40-EAC3-9363-D32D-BB7D3438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9902-A5E0-464E-A3DB-31252D6D1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3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7AC8-D40F-9C0B-30FD-E0AB60844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66CD-4480-1B47-1CB5-84D0AAE73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FE2B3-F6C6-DD2F-6A8C-404C58436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6A6AE-B38D-3134-9B11-BEAB154A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7491-F832-42E5-8E5A-01D866EB402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A6E18-2171-5858-E46F-85DB1EEDE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D77AC-B3D3-DED9-3139-22BF157B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9902-A5E0-464E-A3DB-31252D6D1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1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A5DA2-7D19-42F6-8C7A-85979F514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2321FA-EA9D-7AB5-3D3E-6F6796FE16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9F168A-4597-DA54-C914-E1DB822A4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E1ABA-038F-1E1B-14F0-AF79F463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7491-F832-42E5-8E5A-01D866EB402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5304C-AD42-835F-3C0D-19C6D1189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B4A28-AFD4-970A-9B16-5CE23C5C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9902-A5E0-464E-A3DB-31252D6D1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14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583E-76AF-4AE5-DFB0-81F8C386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9F8995-74BA-E7A2-4914-01E890919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4CDB0-0270-4632-8FED-FD5AB4ECF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7491-F832-42E5-8E5A-01D866EB402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A7780-9252-D3DE-9B37-387D24657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7523D-9266-E0F4-7E91-90D5840D3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9902-A5E0-464E-A3DB-31252D6D1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3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5C6E26-B69E-8A9B-5DD8-39F7DDF70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117B3-02BD-A83E-074C-62076E46F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2E84F-3D20-C8BD-9B45-38A3B6162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7491-F832-42E5-8E5A-01D866EB402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9F032-AD94-FD6D-3C73-91AE7BA94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6B8F5-F239-BDEF-667E-BBBC9159B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9902-A5E0-464E-A3DB-31252D6D1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65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2414DE-FEC1-077E-F52F-6BF9C71E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8CC14-EC5B-584B-0D66-F92DA5970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780AE-413B-8715-7E30-1DE6041347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87491-F832-42E5-8E5A-01D866EB402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BDEBE-B3C7-59C0-A45F-944755C70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42EFB-725C-A153-DFCA-2669B8149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E9902-A5E0-464E-A3DB-31252D6D1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35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0EB9-1F57-6719-2374-3218F5673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/>
              <a:t>Employee Attrition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120B2-F70C-0AFF-0D0F-E66DBD8308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Presented By</a:t>
            </a:r>
            <a:r>
              <a:rPr lang="en-US" sz="2800" dirty="0"/>
              <a:t>: Nishchal Raj Tuladhar</a:t>
            </a:r>
          </a:p>
        </p:txBody>
      </p:sp>
    </p:spTree>
    <p:extLst>
      <p:ext uri="{BB962C8B-B14F-4D97-AF65-F5344CB8AC3E}">
        <p14:creationId xmlns:p14="http://schemas.microsoft.com/office/powerpoint/2010/main" val="828720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B3E5E-8FC8-1188-F398-E0DB094D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9C883-9CFD-383E-1098-12F0A601E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Employee attrition refers to the loss of employees due to resignation, retirement, or termination. </a:t>
            </a:r>
          </a:p>
          <a:p>
            <a:r>
              <a:rPr lang="en-US" dirty="0"/>
              <a:t>High employee attrition can increase recruitment costs, reduce productivity, and affect organizational growth.</a:t>
            </a:r>
          </a:p>
          <a:p>
            <a:r>
              <a:rPr lang="en-US" dirty="0"/>
              <a:t>Machine Learning can help organizations identify employees who are likely to leave and take preventive actions to improve retention.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151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E9DB-9C45-74DB-2639-BBFA9669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05CF9-4D81-4A3A-6024-18BED8380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Organizations often struggle to identify employees who may leave in the future.</a:t>
            </a:r>
          </a:p>
          <a:p>
            <a:r>
              <a:rPr lang="en-US" dirty="0"/>
              <a:t>Traditional HR methods rely on manual analysis, which is time-consuming and may not detect hidden patterns.</a:t>
            </a:r>
          </a:p>
          <a:p>
            <a:r>
              <a:rPr lang="en-US" dirty="0"/>
              <a:t>Therefore, an automated machine learning-based solution is needed to predict employee attrition accurately.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452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3685D-BB6E-DB15-DF71-ACD4152D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Objectives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AA7D5-6F91-EBF1-6281-A77C78EB4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To develop a machine learning model that predicts employee attrition.</a:t>
            </a:r>
          </a:p>
          <a:p>
            <a:r>
              <a:rPr lang="en-US" dirty="0"/>
              <a:t>To build a predictive model for HR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62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37D0C-0824-B7FD-28D9-C9B40CBEC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09C98-9180-E949-A348-F76C22AC1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Dataset</a:t>
            </a:r>
          </a:p>
          <a:p>
            <a:r>
              <a:rPr lang="en-US" dirty="0"/>
              <a:t>IBM HR Analytics Employee Attrition Dataset</a:t>
            </a:r>
          </a:p>
          <a:p>
            <a:pPr marL="0" indent="0">
              <a:buNone/>
            </a:pPr>
            <a:r>
              <a:rPr lang="en-US" b="1" dirty="0"/>
              <a:t>Dataset Characteristics</a:t>
            </a:r>
          </a:p>
          <a:p>
            <a:r>
              <a:rPr lang="en-US" dirty="0"/>
              <a:t>1470 employee records</a:t>
            </a:r>
          </a:p>
          <a:p>
            <a:r>
              <a:rPr lang="en-US" dirty="0"/>
              <a:t>35 attributes</a:t>
            </a:r>
          </a:p>
          <a:p>
            <a:r>
              <a:rPr lang="en-US" dirty="0"/>
              <a:t>No missing values</a:t>
            </a:r>
          </a:p>
          <a:p>
            <a:pPr marL="0" indent="0">
              <a:buNone/>
            </a:pPr>
            <a:r>
              <a:rPr lang="en-US" b="1" dirty="0"/>
              <a:t>Target Variable</a:t>
            </a:r>
          </a:p>
          <a:p>
            <a:pPr marL="0" indent="0">
              <a:buNone/>
            </a:pPr>
            <a:r>
              <a:rPr lang="en-US" dirty="0"/>
              <a:t>Attrition</a:t>
            </a:r>
          </a:p>
          <a:p>
            <a:r>
              <a:rPr lang="en-US" dirty="0"/>
              <a:t>Yes = Employee leaves</a:t>
            </a:r>
          </a:p>
          <a:p>
            <a:r>
              <a:rPr lang="en-US" dirty="0"/>
              <a:t>No = Employee stays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681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46DD-E790-36D4-22D8-F7147B5D3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System Methodology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0C93BB-DBE0-C1C1-77DD-2C692F2C14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84598"/>
            <a:ext cx="10515600" cy="301784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A37462-3557-D85B-77A6-D95029920323}"/>
              </a:ext>
            </a:extLst>
          </p:cNvPr>
          <p:cNvSpPr txBox="1"/>
          <p:nvPr/>
        </p:nvSpPr>
        <p:spPr>
          <a:xfrm>
            <a:off x="3619713" y="5969655"/>
            <a:ext cx="4952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Fig : Block diagram of the system</a:t>
            </a:r>
          </a:p>
        </p:txBody>
      </p:sp>
    </p:spTree>
    <p:extLst>
      <p:ext uri="{BB962C8B-B14F-4D97-AF65-F5344CB8AC3E}">
        <p14:creationId xmlns:p14="http://schemas.microsoft.com/office/powerpoint/2010/main" val="1287127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FB448-F37D-46BD-3122-B569DF66A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System Methodology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3797F-F3F3-770B-A48E-294D2C6CC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Data Collection</a:t>
            </a:r>
          </a:p>
          <a:p>
            <a:r>
              <a:rPr lang="en-US" dirty="0"/>
              <a:t>The IBM HR Employee Attrition dataset was used for this project.</a:t>
            </a:r>
          </a:p>
          <a:p>
            <a:r>
              <a:rPr lang="en-US" dirty="0"/>
              <a:t>The dataset contains employee information such as:</a:t>
            </a:r>
          </a:p>
          <a:p>
            <a:pPr marL="0" indent="0">
              <a:buNone/>
            </a:pPr>
            <a:r>
              <a:rPr lang="en-US" dirty="0"/>
              <a:t>	Age </a:t>
            </a:r>
          </a:p>
          <a:p>
            <a:pPr marL="0" indent="0">
              <a:buNone/>
            </a:pPr>
            <a:r>
              <a:rPr lang="en-US" dirty="0"/>
              <a:t>	Department </a:t>
            </a:r>
          </a:p>
          <a:p>
            <a:pPr marL="0" indent="0">
              <a:buNone/>
            </a:pPr>
            <a:r>
              <a:rPr lang="en-US" dirty="0"/>
              <a:t>	Job Role </a:t>
            </a:r>
          </a:p>
          <a:p>
            <a:pPr marL="0" indent="0">
              <a:buNone/>
            </a:pPr>
            <a:r>
              <a:rPr lang="en-US" dirty="0"/>
              <a:t>	Monthly Income </a:t>
            </a:r>
          </a:p>
          <a:p>
            <a:pPr marL="0" indent="0">
              <a:buNone/>
            </a:pPr>
            <a:r>
              <a:rPr lang="en-US" dirty="0"/>
              <a:t>	Overtime </a:t>
            </a:r>
          </a:p>
          <a:p>
            <a:pPr marL="0" indent="0">
              <a:buNone/>
            </a:pPr>
            <a:r>
              <a:rPr lang="en-US" dirty="0"/>
              <a:t>	Job Satisfaction </a:t>
            </a:r>
          </a:p>
          <a:p>
            <a:pPr marL="0" indent="0">
              <a:buNone/>
            </a:pPr>
            <a:r>
              <a:rPr lang="en-US" dirty="0"/>
              <a:t>	Years at Company </a:t>
            </a:r>
          </a:p>
          <a:p>
            <a:pPr marL="0" indent="0">
              <a:buNone/>
            </a:pPr>
            <a:r>
              <a:rPr lang="en-US" dirty="0"/>
              <a:t>	Attrition Status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511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C59B9-6CC3-5957-9733-75E6F6CC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System Methodology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C3EF1-63B9-A66D-4ED4-7BCB75430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Data Preprocessing</a:t>
            </a:r>
          </a:p>
          <a:p>
            <a:r>
              <a:rPr lang="en-US" dirty="0"/>
              <a:t>Raw data cannot be directly used for machine learning.</a:t>
            </a:r>
          </a:p>
          <a:p>
            <a:pPr marL="0" indent="0">
              <a:buNone/>
            </a:pPr>
            <a:r>
              <a:rPr lang="en-US" dirty="0"/>
              <a:t>The following preprocessing steps were performed:</a:t>
            </a:r>
          </a:p>
          <a:p>
            <a:r>
              <a:rPr lang="en-US" dirty="0"/>
              <a:t>Removed unnecessary columns </a:t>
            </a:r>
          </a:p>
          <a:p>
            <a:pPr marL="457200" lvl="1" indent="0">
              <a:buNone/>
            </a:pPr>
            <a:r>
              <a:rPr lang="en-US" dirty="0" err="1"/>
              <a:t>EmployeeCount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 err="1"/>
              <a:t>EmployeeNumber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/>
              <a:t>Over18 </a:t>
            </a:r>
          </a:p>
          <a:p>
            <a:pPr marL="457200" lvl="1" indent="0">
              <a:buNone/>
            </a:pPr>
            <a:r>
              <a:rPr lang="en-US" dirty="0" err="1"/>
              <a:t>StandardHours</a:t>
            </a:r>
            <a:r>
              <a:rPr lang="en-US" dirty="0"/>
              <a:t> </a:t>
            </a:r>
          </a:p>
          <a:p>
            <a:r>
              <a:rPr lang="en-US" dirty="0"/>
              <a:t>Converted categorical values into numerical form </a:t>
            </a:r>
          </a:p>
          <a:p>
            <a:r>
              <a:rPr lang="en-US" dirty="0"/>
              <a:t>Converted Attrition: </a:t>
            </a:r>
          </a:p>
          <a:p>
            <a:pPr marL="457200" lvl="1" indent="0">
              <a:buNone/>
            </a:pPr>
            <a:r>
              <a:rPr lang="en-US" dirty="0"/>
              <a:t>Yes → 1 </a:t>
            </a:r>
          </a:p>
          <a:p>
            <a:pPr marL="457200" lvl="1" indent="0">
              <a:buNone/>
            </a:pPr>
            <a:r>
              <a:rPr lang="en-US" dirty="0"/>
              <a:t>No →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801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632A3-CC04-2A6B-F04C-A257CFC1D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System Methodology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FF7DF-C0E7-730F-6C24-650E56148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Exploratory Data Analysis (EDA)</a:t>
            </a:r>
          </a:p>
          <a:p>
            <a:r>
              <a:rPr lang="en-US" dirty="0"/>
              <a:t>EDA was performed to understand employee behavior and identify important patterns.</a:t>
            </a:r>
          </a:p>
          <a:p>
            <a:pPr marL="0" indent="0">
              <a:buNone/>
            </a:pPr>
            <a:r>
              <a:rPr lang="en-US" dirty="0"/>
              <a:t>Analysis included:</a:t>
            </a:r>
          </a:p>
          <a:p>
            <a:r>
              <a:rPr lang="en-US" dirty="0"/>
              <a:t>Attrition distribution </a:t>
            </a:r>
          </a:p>
          <a:p>
            <a:r>
              <a:rPr lang="en-US" dirty="0"/>
              <a:t>Department-wise attrition </a:t>
            </a:r>
          </a:p>
          <a:p>
            <a:r>
              <a:rPr lang="en-US" dirty="0"/>
              <a:t>Job-role-wise attrition </a:t>
            </a:r>
          </a:p>
          <a:p>
            <a:r>
              <a:rPr lang="en-US" dirty="0"/>
              <a:t>Overtime impact </a:t>
            </a:r>
          </a:p>
          <a:p>
            <a:r>
              <a:rPr lang="en-US" dirty="0"/>
              <a:t>Income analysis </a:t>
            </a:r>
          </a:p>
          <a:p>
            <a:r>
              <a:rPr lang="en-US" dirty="0"/>
              <a:t>Satisfaction analysis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447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8ECBB-3EE7-33C4-1461-BCFBD153F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System Methodology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12F55-B53F-44C7-36A6-BF2BD4E5D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Feature Engineering</a:t>
            </a:r>
          </a:p>
          <a:p>
            <a:pPr marL="0" indent="0">
              <a:buNone/>
            </a:pPr>
            <a:r>
              <a:rPr lang="en-US" dirty="0"/>
              <a:t>New features were created to improve prediction performance.</a:t>
            </a:r>
          </a:p>
          <a:p>
            <a:pPr marL="0" indent="0">
              <a:buNone/>
            </a:pPr>
            <a:r>
              <a:rPr lang="en-US" dirty="0" err="1"/>
              <a:t>IncomePerYear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SatisfactionScore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CareerGrowthRate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PromotionLag</a:t>
            </a:r>
          </a:p>
          <a:p>
            <a:pPr marL="0" indent="0">
              <a:buNone/>
            </a:pPr>
            <a:r>
              <a:rPr lang="en-US" dirty="0" err="1"/>
              <a:t>OverTimeBinary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22857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ED6F-550C-9D54-F8FD-F472652F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System Methodology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86499-25BE-B252-A011-6B0C243F3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Data Splitting</a:t>
            </a:r>
          </a:p>
          <a:p>
            <a:r>
              <a:rPr lang="en-US" dirty="0"/>
              <a:t>The dataset was divided into:</a:t>
            </a:r>
          </a:p>
          <a:p>
            <a:pPr marL="0" indent="0">
              <a:buNone/>
            </a:pPr>
            <a:r>
              <a:rPr lang="en-US" dirty="0"/>
              <a:t>Training Set → 80% </a:t>
            </a:r>
          </a:p>
          <a:p>
            <a:pPr marL="0" indent="0">
              <a:buNone/>
            </a:pPr>
            <a:r>
              <a:rPr lang="en-US" dirty="0"/>
              <a:t>Testing Set → 20%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4160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9DC1E-FC1E-0A51-D372-C60FBDD18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3CC0-A874-DBF8-D2DB-D81BCA1B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System Methodology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5AEB2-DD7E-16EF-C1F0-018B781B2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Model Training</a:t>
            </a:r>
          </a:p>
          <a:p>
            <a:r>
              <a:rPr lang="en-US" dirty="0"/>
              <a:t>Three machine learning models were trained:</a:t>
            </a:r>
          </a:p>
          <a:p>
            <a:pPr marL="0" indent="0">
              <a:buNone/>
            </a:pPr>
            <a:r>
              <a:rPr lang="en-US" dirty="0"/>
              <a:t>Logistic Regression</a:t>
            </a:r>
          </a:p>
          <a:p>
            <a:r>
              <a:rPr lang="en-US" dirty="0"/>
              <a:t>Simple baseline classification model.</a:t>
            </a:r>
          </a:p>
          <a:p>
            <a:pPr marL="0" indent="0">
              <a:buNone/>
            </a:pPr>
            <a:r>
              <a:rPr lang="en-US" dirty="0"/>
              <a:t>Random Forest</a:t>
            </a:r>
          </a:p>
          <a:p>
            <a:r>
              <a:rPr lang="en-US" dirty="0"/>
              <a:t>Collection of multiple decision trees.</a:t>
            </a:r>
          </a:p>
          <a:p>
            <a:pPr marL="0" indent="0">
              <a:buNone/>
            </a:pPr>
            <a:r>
              <a:rPr lang="en-US" dirty="0"/>
              <a:t>Gradient Boosting</a:t>
            </a:r>
          </a:p>
          <a:p>
            <a:r>
              <a:rPr lang="en-US" dirty="0"/>
              <a:t>Sequential learning algorithm that improves prediction accuracy.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24872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172A-95C6-CF6C-1030-722FBCE1B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31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System Methodology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542D8-B077-81FA-CDF7-91B23213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87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Model Evaluation</a:t>
            </a:r>
          </a:p>
          <a:p>
            <a:r>
              <a:rPr lang="en-US" sz="2400" dirty="0"/>
              <a:t>Models were evaluated using:</a:t>
            </a:r>
          </a:p>
          <a:p>
            <a:pPr marL="0" indent="0">
              <a:buNone/>
            </a:pPr>
            <a:r>
              <a:rPr lang="en-US" sz="2400" dirty="0"/>
              <a:t>Accuracy</a:t>
            </a:r>
          </a:p>
          <a:p>
            <a:r>
              <a:rPr lang="en-US" sz="2400" dirty="0"/>
              <a:t>Measures overall correctness.</a:t>
            </a:r>
          </a:p>
          <a:p>
            <a:pPr marL="0" indent="0">
              <a:buNone/>
            </a:pPr>
            <a:r>
              <a:rPr lang="en-US" sz="2400" dirty="0"/>
              <a:t>Precision</a:t>
            </a:r>
          </a:p>
          <a:p>
            <a:r>
              <a:rPr lang="en-US" sz="2400" dirty="0"/>
              <a:t>Measures correctness of predicted attrition cases.</a:t>
            </a:r>
          </a:p>
          <a:p>
            <a:pPr marL="0" indent="0">
              <a:buNone/>
            </a:pPr>
            <a:r>
              <a:rPr lang="en-US" sz="2400" dirty="0"/>
              <a:t>Recall</a:t>
            </a:r>
          </a:p>
          <a:p>
            <a:r>
              <a:rPr lang="en-US" sz="2400" dirty="0"/>
              <a:t>Measures ability to detect actual attrition cases.</a:t>
            </a:r>
          </a:p>
          <a:p>
            <a:pPr marL="0" indent="0">
              <a:buNone/>
            </a:pPr>
            <a:r>
              <a:rPr lang="en-US" sz="2400" dirty="0"/>
              <a:t>F1 Score</a:t>
            </a:r>
          </a:p>
          <a:p>
            <a:r>
              <a:rPr lang="en-US" sz="2400" dirty="0"/>
              <a:t>Balances precision and recall.</a:t>
            </a:r>
          </a:p>
          <a:p>
            <a:pPr marL="0" indent="0">
              <a:buNone/>
            </a:pPr>
            <a:r>
              <a:rPr lang="en-US" sz="2400" dirty="0"/>
              <a:t>ROC-AUC</a:t>
            </a:r>
          </a:p>
          <a:p>
            <a:r>
              <a:rPr lang="en-US" sz="2400" dirty="0"/>
              <a:t>Measures overall classification capability.</a:t>
            </a:r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92685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7A875-5770-C1C7-4ED5-3D17CCDBE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B5104-C511-2F0F-29DB-6D2E6862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Comparison (5-Fold Cross Validation)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DDE6A3-123A-A4AA-21D6-4443F82A2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055274"/>
              </p:ext>
            </p:extLst>
          </p:nvPr>
        </p:nvGraphicFramePr>
        <p:xfrm>
          <a:off x="1376082" y="2754555"/>
          <a:ext cx="9439836" cy="269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9918">
                  <a:extLst>
                    <a:ext uri="{9D8B030D-6E8A-4147-A177-3AD203B41FA5}">
                      <a16:colId xmlns:a16="http://schemas.microsoft.com/office/drawing/2014/main" val="3392660595"/>
                    </a:ext>
                  </a:extLst>
                </a:gridCol>
                <a:gridCol w="4719918">
                  <a:extLst>
                    <a:ext uri="{9D8B030D-6E8A-4147-A177-3AD203B41FA5}">
                      <a16:colId xmlns:a16="http://schemas.microsoft.com/office/drawing/2014/main" val="3940108264"/>
                    </a:ext>
                  </a:extLst>
                </a:gridCol>
              </a:tblGrid>
              <a:tr h="672876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AUC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47036"/>
                  </a:ext>
                </a:extLst>
              </a:tr>
              <a:tr h="672876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0.7333 ± 0.0345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075485"/>
                  </a:ext>
                </a:extLst>
              </a:tr>
              <a:tr h="672876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0.7880 ± 0.0214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53058"/>
                  </a:ext>
                </a:extLst>
              </a:tr>
              <a:tr h="672876"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0.8055 ± 0.0260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730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535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B4C14-8F35-2D49-CACF-F5ADBB5E5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DA8D-D08E-1124-A225-211C0667C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3CC84-FC01-DAA0-81F7-F14CA7549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Best Model</a:t>
            </a:r>
          </a:p>
          <a:p>
            <a:r>
              <a:rPr lang="en-US" dirty="0"/>
              <a:t>Gradient Boosting Classifier</a:t>
            </a:r>
          </a:p>
          <a:p>
            <a:pPr marL="0" indent="0">
              <a:buNone/>
            </a:pPr>
            <a:r>
              <a:rPr lang="en-US" dirty="0"/>
              <a:t>Reason:</a:t>
            </a:r>
          </a:p>
          <a:p>
            <a:r>
              <a:rPr lang="en-US" dirty="0"/>
              <a:t>Highest AUC Score</a:t>
            </a:r>
          </a:p>
          <a:p>
            <a:r>
              <a:rPr lang="en-US" dirty="0"/>
              <a:t>Better predictive performance</a:t>
            </a:r>
          </a:p>
          <a:p>
            <a:r>
              <a:rPr lang="en-US" dirty="0"/>
              <a:t>Better generalization capability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699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EE3B5-3804-8D09-1C93-7EF096FCF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8BDE1-9135-178B-0790-64FF02B96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5579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Results and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4002D-E8DE-228D-22BB-C277719AF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759" y="1392514"/>
            <a:ext cx="9472481" cy="50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63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DD3A2-A838-C911-C0DE-32C5BB7E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E72CC-EE49-D814-2B34-C9744FFA7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Results and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992FA8-0E83-CBE8-69E6-C56959C11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809" y="1533574"/>
            <a:ext cx="8428382" cy="517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020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CE0D5-B2D0-7861-69AA-87672E0C7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02EFC-A281-0B10-F0F9-197B5949F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Results and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D2E894-BB2A-4462-517D-84985627E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167" y="1944124"/>
            <a:ext cx="4381880" cy="3596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67C7EB-77DA-52C3-67B0-170B5F6A9778}"/>
              </a:ext>
            </a:extLst>
          </p:cNvPr>
          <p:cNvSpPr txBox="1"/>
          <p:nvPr/>
        </p:nvSpPr>
        <p:spPr>
          <a:xfrm>
            <a:off x="3412167" y="5794513"/>
            <a:ext cx="4512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Fig: Confusion Matrix of the model</a:t>
            </a:r>
          </a:p>
        </p:txBody>
      </p:sp>
    </p:spTree>
    <p:extLst>
      <p:ext uri="{BB962C8B-B14F-4D97-AF65-F5344CB8AC3E}">
        <p14:creationId xmlns:p14="http://schemas.microsoft.com/office/powerpoint/2010/main" val="663175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CF8F4-2641-4573-8410-1D928A7DB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CF9B7-4E22-9EA5-71B2-A1CF0F80A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C3A7-26E8-AB7F-7144-ABCB1BB44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Evaluation Metrics</a:t>
            </a:r>
          </a:p>
          <a:p>
            <a:r>
              <a:rPr lang="en-US" dirty="0"/>
              <a:t>Accuracy = 83.3%</a:t>
            </a:r>
          </a:p>
          <a:p>
            <a:r>
              <a:rPr lang="en-US" dirty="0"/>
              <a:t>Precision = 43.75%</a:t>
            </a:r>
          </a:p>
          <a:p>
            <a:r>
              <a:rPr lang="en-US" dirty="0"/>
              <a:t>Recall = 14.89%</a:t>
            </a:r>
          </a:p>
          <a:p>
            <a:r>
              <a:rPr lang="en-US" dirty="0"/>
              <a:t>F1 Score = 22.22%</a:t>
            </a:r>
          </a:p>
          <a:p>
            <a:r>
              <a:rPr lang="en-US" dirty="0"/>
              <a:t>ROC-AUC = 78.68%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748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209E3-18D5-7561-461D-4009F490F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D0AF8-574A-B9EB-DA0D-6107A260A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developed an Employee Attrition Prediction System using Machine Learning.</a:t>
            </a:r>
          </a:p>
          <a:p>
            <a:r>
              <a:rPr lang="en-US" dirty="0"/>
              <a:t>Among the tested algorithms, the Gradient Boosting Classifier achieved the best performance with an AUC score of 0.8055 and an accuracy of 83.3%.</a:t>
            </a:r>
          </a:p>
          <a:p>
            <a:r>
              <a:rPr lang="en-US" dirty="0"/>
              <a:t>The study identified Monthly Income, Age, Overtime, Total Working Years, and Daily Rate as the most influential factors affecting employee attrition.</a:t>
            </a:r>
          </a:p>
          <a:p>
            <a:r>
              <a:rPr lang="en-US" dirty="0"/>
              <a:t>The developed system can assist HR departments in making proactive decisions to improve employee retention and reduce turnover costs.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194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591</Words>
  <Application>Microsoft Office PowerPoint</Application>
  <PresentationFormat>Widescreen</PresentationFormat>
  <Paragraphs>129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Employee Attrition Prediction Using Machine Learning</vt:lpstr>
      <vt:lpstr>Introduction</vt:lpstr>
      <vt:lpstr>Problem Statement</vt:lpstr>
      <vt:lpstr>Objectives </vt:lpstr>
      <vt:lpstr>Dataset Description</vt:lpstr>
      <vt:lpstr>System Methodology</vt:lpstr>
      <vt:lpstr>System Methodology</vt:lpstr>
      <vt:lpstr>System Methodology</vt:lpstr>
      <vt:lpstr>System Methodology</vt:lpstr>
      <vt:lpstr>System Methodology</vt:lpstr>
      <vt:lpstr>System Methodology</vt:lpstr>
      <vt:lpstr>System Methodology</vt:lpstr>
      <vt:lpstr>System Methodology</vt:lpstr>
      <vt:lpstr>Results and Discussion</vt:lpstr>
      <vt:lpstr>Results and Discussion</vt:lpstr>
      <vt:lpstr>Results and Discussion</vt:lpstr>
      <vt:lpstr>Results and Discussion</vt:lpstr>
      <vt:lpstr>Results and Discussion</vt:lpstr>
      <vt:lpstr>Results and Discussion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Nishchal Tuladhar</dc:creator>
  <cp:lastModifiedBy>Nishchal Tuladhar</cp:lastModifiedBy>
  <cp:revision>3</cp:revision>
  <dcterms:created xsi:type="dcterms:W3CDTF">2026-06-18T17:25:47Z</dcterms:created>
  <dcterms:modified xsi:type="dcterms:W3CDTF">2026-06-19T08:16:49Z</dcterms:modified>
</cp:coreProperties>
</file>